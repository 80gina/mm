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저희 팀은 감정 기록 앱의 가장 큰 공백에서 시작했습니다.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감정에 이름을 붙이는 것까지는 많은 앱이 합니다. 하지만 "그래서 지금 무엇을 하면 되는지"에 출처를 붙여 답하는 서비스는 없었습니다.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핵심은 세 가지입니다. 감정 판정은 검증 가능해야 하고, 추천에는 출처가 있어야 하고, 개인화는 동의 위에서만 이뤄져야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과제 요구는 2개 이상이었고, 저희는 4개를 구현하고 각각 테스트 증거를 남겼습니다.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구현하지 못한 것을 구현한 것처럼 말하지 않는 것도 저희 팀의 원칙이었습니다. 이 장은 30초 안에 끝냅니다.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6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4300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Mindily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0116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C9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감정을 기록에서 끝내지 않는 AI 감정 코치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2788920" cy="384048"/>
          </a:xfrm>
          <a:prstGeom prst="roundRect">
            <a:avLst>
              <a:gd name="adj" fmla="val 50000"/>
            </a:avLst>
          </a:prstGeom>
          <a:solidFill>
            <a:srgbClr val="2B3C72"/>
          </a:solidFill>
          <a:ln w="12700">
            <a:solidFill>
              <a:srgbClr val="2B3C7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74320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7DE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코디세이 AI 네이티브 Final Project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31012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팀명 ______ · 팀원 3인 (기획/UX · 개발 · 검증/문서)</a:t>
            </a:r>
            <a:endParaRPr lang="en-US" sz="1200" dirty="0"/>
          </a:p>
        </p:txBody>
      </p:sp>
      <p:pic>
        <p:nvPicPr>
          <p:cNvPr id="7" name="Image 0" descr="/tmp/claude-0/-home-claude/df976b3b-33df-5ebe-9665-69bb94d4a9a7/scratchpad/shot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457200"/>
            <a:ext cx="2057400" cy="42245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6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기록형 앱과 위로형 챗봇 사이가 비어 있습니다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96112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89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문제 정의 — 팀이 직접 사용해 보며 확인한 공백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606040" cy="2514600"/>
          </a:xfrm>
          <a:prstGeom prst="roundRect">
            <a:avLst>
              <a:gd name="adj" fmla="val 3636"/>
            </a:avLst>
          </a:prstGeom>
          <a:solidFill>
            <a:srgbClr val="E7EEFC"/>
          </a:solidFill>
          <a:ln w="12700">
            <a:solidFill>
              <a:srgbClr val="E7EE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58952" y="16916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6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기록형 감정 앱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2057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26F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“그래서 지금 뭘 해야 하죠?”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27432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5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감정에 이름은 붙여주지만 그 다음 행동으로 이어지지 않는다. 그래프만 쌓인다.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46120" y="1463040"/>
            <a:ext cx="2606040" cy="2514600"/>
          </a:xfrm>
          <a:prstGeom prst="roundRect">
            <a:avLst>
              <a:gd name="adj" fmla="val 3636"/>
            </a:avLst>
          </a:prstGeom>
          <a:solidFill>
            <a:srgbClr val="FBE6DC"/>
          </a:solidFill>
          <a:ln w="12700">
            <a:solidFill>
              <a:srgbClr val="FBE6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02152" y="16916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6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위로형 챗봇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502152" y="2057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26F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“이게 나한테 맞는 말인가요?”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502152" y="27432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5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문장은 따뜻하지만 근거가 없다. 지어낸 조언인지 확인할 방법이 없다.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89320" y="1463040"/>
            <a:ext cx="2606040" cy="2514600"/>
          </a:xfrm>
          <a:prstGeom prst="roundRect">
            <a:avLst>
              <a:gd name="adj" fmla="val 3636"/>
            </a:avLst>
          </a:prstGeom>
          <a:solidFill>
            <a:srgbClr val="E9F3E8"/>
          </a:solidFill>
          <a:ln w="12700">
            <a:solidFill>
              <a:srgbClr val="E9F3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45352" y="16916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6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Mindily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245352" y="2057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26F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“근거가 있는 다음 한 걸음”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245352" y="27432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5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가능한 분류 점수 + 출처가 붙은 활동. 최종 판단은 사용자에게 남긴다.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468172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789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규모 통계는 인용하지 않습니다. 팀이 직접 관찰한 문제만 이야기합니다.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6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전날 밤, 잠이 오지 않는 사람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96112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89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타겟 사용자와 사용 시나리오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834640" cy="2834640"/>
          </a:xfrm>
          <a:prstGeom prst="roundRect">
            <a:avLst>
              <a:gd name="adj" fmla="val 3226"/>
            </a:avLst>
          </a:prstGeom>
          <a:solidFill>
            <a:srgbClr val="ECEAFB"/>
          </a:solidFill>
          <a:ln w="12700">
            <a:solidFill>
              <a:srgbClr val="ECEA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6420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26F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페르소나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202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6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29세 직장인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7744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5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밤 11시, 내일 발표가 걱정된다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5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상담은 부담스럽고 시간도 없다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5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“괜찮아요” 한마디로는 부족하다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5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10분 안에 할 것이 필요하다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0" y="1481328"/>
            <a:ext cx="24231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DCE0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22192" y="1700784"/>
            <a:ext cx="347472" cy="347472"/>
          </a:xfrm>
          <a:prstGeom prst="ellipse">
            <a:avLst/>
          </a:prstGeom>
          <a:solidFill>
            <a:srgbClr val="E7EEFC"/>
          </a:solidFill>
          <a:ln w="12700">
            <a:solidFill>
              <a:srgbClr val="E7EEF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22192" y="1700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26F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279392" y="166420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5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일기 한 문장 쓰기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1481328"/>
            <a:ext cx="24231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DCE0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28232" y="1700784"/>
            <a:ext cx="347472" cy="347472"/>
          </a:xfrm>
          <a:prstGeom prst="ellipse">
            <a:avLst/>
          </a:prstGeom>
          <a:solidFill>
            <a:srgbClr val="E7EEFC"/>
          </a:solidFill>
          <a:ln w="12700">
            <a:solidFill>
              <a:srgbClr val="E7EEF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28232" y="1700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26F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885432" y="166420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5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KcELECTRA 감정 분류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0" y="2432304"/>
            <a:ext cx="24231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DCE0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22192" y="2651760"/>
            <a:ext cx="347472" cy="347472"/>
          </a:xfrm>
          <a:prstGeom prst="ellipse">
            <a:avLst/>
          </a:prstGeom>
          <a:solidFill>
            <a:srgbClr val="E7EEFC"/>
          </a:solidFill>
          <a:ln w="12700">
            <a:solidFill>
              <a:srgbClr val="E7EEF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822192" y="2651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26F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279392" y="2615184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5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무드 미터에서 직접 확정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63640" y="2432304"/>
            <a:ext cx="24231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DCE0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28232" y="2651760"/>
            <a:ext cx="347472" cy="347472"/>
          </a:xfrm>
          <a:prstGeom prst="ellipse">
            <a:avLst/>
          </a:prstGeom>
          <a:solidFill>
            <a:srgbClr val="E7EEFC"/>
          </a:solidFill>
          <a:ln w="12700">
            <a:solidFill>
              <a:srgbClr val="E7EEF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28232" y="2651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26F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885432" y="2615184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5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접지 코치 문장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657600" y="3383280"/>
            <a:ext cx="24231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DCE0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22192" y="3602736"/>
            <a:ext cx="347472" cy="347472"/>
          </a:xfrm>
          <a:prstGeom prst="ellipse">
            <a:avLst/>
          </a:prstGeom>
          <a:solidFill>
            <a:srgbClr val="E7EEFC"/>
          </a:solidFill>
          <a:ln w="12700">
            <a:solidFill>
              <a:srgbClr val="E7EEF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822192" y="3602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26F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279392" y="356616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5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 탭에서 바로 실행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63640" y="3383280"/>
            <a:ext cx="24231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DCE0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28232" y="3602736"/>
            <a:ext cx="347472" cy="347472"/>
          </a:xfrm>
          <a:prstGeom prst="ellipse">
            <a:avLst/>
          </a:prstGeom>
          <a:solidFill>
            <a:srgbClr val="E7EEFC"/>
          </a:solidFill>
          <a:ln w="12700">
            <a:solidFill>
              <a:srgbClr val="E7EEF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28232" y="3602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26F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885432" y="356616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5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(동의 시) 선호 기억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02920" y="468172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789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시연에서도 이 문장을 그대로 사용합니다 — “내일 발표를 잘할 수 있을지 걱정돼요.”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6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판정은 분류 모델, 표현은 생성형 AI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96112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89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해결 설계 한 장 요약 — 굵은 주황 테두리가 생성형 AI 경로</a:t>
            </a:r>
            <a:endParaRPr lang="en-US" sz="1300" dirty="0"/>
          </a:p>
        </p:txBody>
      </p:sp>
      <p:pic>
        <p:nvPicPr>
          <p:cNvPr id="4" name="Image 0" descr="/tmp/claude-0/-home-claude/df976b3b-33df-5ebe-9665-69bb94d4a9a7/scratchpad/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234440"/>
            <a:ext cx="8010144" cy="32461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468172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789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일기 원문은 프론트엔드 계층을 벗어나지 않습니다. 생성형 AI에는 감정 라벨·스트레스·출처 카드만 전달됩니다.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6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썼는가보다, 왜 그것을 골랐는가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96112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89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기술적 의사결정 근거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81381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920240"/>
                <a:gridCol w="39319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택하지 않은 대안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왜 이것을 골랐나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5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532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감정 판정 = 전용 분류 모델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C789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LLM에게 감정 추정 요청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532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점수·모델 리비전을 공개할 수 있어 검증 가능. LLM 추정은 근거 제시 불가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532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감정 표현 = 생성형 AI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C789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 기반 템플릿만 사용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532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공감 문장의 자연스러움은 생성형이 우위. 단 출처 밖으로 못 나가게 제한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532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LLM에 일기 원문 미전송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C789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원문 전달로 공감도 향상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532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가장 민감한 기록. 라벨·출처 카드만으로 품질 확보하고 유출 경로를 제거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532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생성 실패 시 자동 폴백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C789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 화면 노출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532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 API 장애가 서비스 중단이 되지 않게. 경로는 generation 필드로 항상 공개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532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선호 기억 30일 만료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C789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무기한 보관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532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개인화와 보호를 동시에 증명. 동의 거부해도 핵심 기능은 그대로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468172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789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핵심은 역할 분리입니다. 판정은 검증 가능해야 하니 분류 모델에, 표현은 자연스러워야 하니 생성형 AI에 맡기되 출처로 묶었습니다.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6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요구는 2개, 구현은 4개 — 각각 증거 파일까지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96112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89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필수 기술 요소와 생성형 AI 3중 안전장치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88720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789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증거는 모두 evidence/ 폴더에 있습니다.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3977640" cy="1042416"/>
          </a:xfrm>
          <a:prstGeom prst="roundRect">
            <a:avLst>
              <a:gd name="adj" fmla="val 8772"/>
            </a:avLst>
          </a:prstGeom>
          <a:solidFill>
            <a:srgbClr val="E7EEFC"/>
          </a:solidFill>
          <a:ln w="12700">
            <a:solidFill>
              <a:srgbClr val="E7EE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536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6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Agent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82880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F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coach_agent.py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0574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의도 판별 → 도구 순차 호출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108960" y="2075688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789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agent-check.json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663440" y="1417320"/>
            <a:ext cx="3977640" cy="1042416"/>
          </a:xfrm>
          <a:prstGeom prst="roundRect">
            <a:avLst>
              <a:gd name="adj" fmla="val 8772"/>
            </a:avLst>
          </a:prstGeom>
          <a:solidFill>
            <a:srgbClr val="E9F3E8"/>
          </a:solidFill>
          <a:ln w="12700">
            <a:solidFill>
              <a:srgbClr val="E9F3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92040" y="1536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6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82880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F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rag.py · healing_knowledge.py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20574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검색 · 출처 부착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269480" y="2075688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789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rag-check.json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02920" y="2624328"/>
            <a:ext cx="3977640" cy="1042416"/>
          </a:xfrm>
          <a:prstGeom prst="roundRect">
            <a:avLst>
              <a:gd name="adj" fmla="val 8772"/>
            </a:avLst>
          </a:prstGeom>
          <a:solidFill>
            <a:srgbClr val="FBE6DC"/>
          </a:solidFill>
          <a:ln w="12700">
            <a:solidFill>
              <a:srgbClr val="FBE6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2743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6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03580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F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llm.py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2644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접지 생성 · 안전 필터 · 폴백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108960" y="3282696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789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llm-check.json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663440" y="2624328"/>
            <a:ext cx="3977640" cy="1042416"/>
          </a:xfrm>
          <a:prstGeom prst="roundRect">
            <a:avLst>
              <a:gd name="adj" fmla="val 8772"/>
            </a:avLst>
          </a:prstGeom>
          <a:solidFill>
            <a:srgbClr val="ECEAFB"/>
          </a:solidFill>
          <a:ln w="12700">
            <a:solidFill>
              <a:srgbClr val="ECEAF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92040" y="2743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6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Long-term Memory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892040" y="303580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F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memory_db.py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892040" y="32644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동의 저장 · 30일 만료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269480" y="3282696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789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memory-retention-check.json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02920" y="3886200"/>
            <a:ext cx="8138160" cy="749808"/>
          </a:xfrm>
          <a:prstGeom prst="roundRect">
            <a:avLst>
              <a:gd name="adj" fmla="val 12195"/>
            </a:avLst>
          </a:prstGeom>
          <a:solidFill>
            <a:srgbClr val="F7F8FB"/>
          </a:solidFill>
          <a:ln w="12700">
            <a:solidFill>
              <a:srgbClr val="DCE0E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405993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6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 3중 제한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77440" y="398678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26F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2377440" y="42062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카드 3장만 · 일기 원문 미전송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4462272" y="398678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26F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4462272" y="42062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밖 활동·진단·단정 금지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6547104" y="398678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26F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6547104" y="42062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금지어 검출 시 폐기 후 폴백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6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① 일기 한 문장 → 실제 모델 추론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96112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89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해결 과정 — 미리 넣어둔 값이 아닙니다</a:t>
            </a:r>
            <a:endParaRPr lang="en-US" sz="1300" dirty="0"/>
          </a:p>
        </p:txBody>
      </p:sp>
      <p:pic>
        <p:nvPicPr>
          <p:cNvPr id="4" name="Image 0" descr="/tmp/claude-0/-home-claude/df976b3b-33df-5ebe-9665-69bb94d4a9a7/scratchpad/shot-analy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98448"/>
            <a:ext cx="1572768" cy="323697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423160" y="1325880"/>
            <a:ext cx="62179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CE0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2651760" y="144475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6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 감정 분류 점수를 레이더로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2651760" y="1728216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5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감정에 쏠려도 도형이 무너지지 않도록 제곱근 축과 최소 반지름을 적용하고, 정확한 값은 꼭짓점 숫자로 함께 표시합니다.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423160" y="2468880"/>
            <a:ext cx="62179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CE0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651760" y="258775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6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불안 0.941 (evidence/api-check.json)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2651760" y="2871216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5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실측값입니다. 128토큰을 넘는 긴 글은 청크로 나눠 추론한 뒤 토큰 수로 가중 평균하므로 점수가 낮아집니다(0.437) — 오작동이 아닙니다.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423160" y="3611880"/>
            <a:ext cx="62179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CE0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651760" y="373075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6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 명시한 한 줄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2651760" y="4014216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5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“합쳐서 100%가 되는 비율이나 진단 결과가 아니에요.” 점수를 확률처럼 읽지 않도록 안내합니다.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502920" y="468172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789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대응: 모델 로딩이 지연되면 evidence/api-check.json과 녹화 영상으로 전환합니다.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6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② 출처가 붙은 위로와 활동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96112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89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해결 과정 — 최종 결정권은 사용자에게</a:t>
            </a:r>
            <a:endParaRPr lang="en-US" sz="1300" dirty="0"/>
          </a:p>
        </p:txBody>
      </p:sp>
      <p:pic>
        <p:nvPicPr>
          <p:cNvPr id="4" name="Image 0" descr="/tmp/claude-0/-home-claude/df976b3b-33df-5ebe-9665-69bb94d4a9a7/scratchpad/shot-analysis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1709928" cy="3520440"/>
          </a:xfrm>
          <a:prstGeom prst="rect">
            <a:avLst/>
          </a:prstGeom>
        </p:spPr>
      </p:pic>
      <p:pic>
        <p:nvPicPr>
          <p:cNvPr id="5" name="Image 1" descr="/tmp/claude-0/-home-claude/df976b3b-33df-5ebe-9665-69bb94d4a9a7/scratchpad/shot-coa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728" y="1234440"/>
            <a:ext cx="1709928" cy="35204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434840" y="123444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6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저작권 만료 작품만 인용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4434840" y="149961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5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세네카·윤동주·한용운·노자 등 저작권이 만료된 글만 씁니다. 노래 가사는 저작권 때문에 쓰지 않았습니다.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4434840" y="213969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6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꽃과 향은 효능을 주장하지 않음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4434840" y="240487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5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“좋아진다”가 아니라 “곁에 두면 좋은 것”으로만 제안하고 알레르기 안내를 항상 붙입니다.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4434840" y="304495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6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 대신 앱 안에서 바로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4434840" y="331012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5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활동을 탭으로 나누고 5단계 안내를 앱 안에 넣었습니다. 자연의 소리는 음원 파일 없이 브라우저가 직접 합성합니다.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4434840" y="395020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6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제안과 사용자 확정값은 별도 저장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4434840" y="4215384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5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‘불안’이라 해도 사용자가 바꾸면 덮어쓰지 않고 따로 기록합니다.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6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 표시는 실제로 확인한 항목에만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96112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89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검증 — 미완료 항목도 문서에 그대로 남겼습니다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901952" cy="1005840"/>
          </a:xfrm>
          <a:prstGeom prst="roundRect">
            <a:avLst>
              <a:gd name="adj" fmla="val 9091"/>
            </a:avLst>
          </a:prstGeom>
          <a:solidFill>
            <a:srgbClr val="E7EEFC"/>
          </a:solidFill>
          <a:ln w="12700">
            <a:solidFill>
              <a:srgbClr val="E7EE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481328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726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048256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789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커밋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87752" y="1417320"/>
            <a:ext cx="1901952" cy="1005840"/>
          </a:xfrm>
          <a:prstGeom prst="roundRect">
            <a:avLst>
              <a:gd name="adj" fmla="val 9091"/>
            </a:avLst>
          </a:prstGeom>
          <a:solidFill>
            <a:srgbClr val="E7EEFC"/>
          </a:solidFill>
          <a:ln w="12700">
            <a:solidFill>
              <a:srgbClr val="E7EE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87752" y="1481328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726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2587752" y="2048256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789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증거 파일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72584" y="1417320"/>
            <a:ext cx="1901952" cy="1005840"/>
          </a:xfrm>
          <a:prstGeom prst="roundRect">
            <a:avLst>
              <a:gd name="adj" fmla="val 9091"/>
            </a:avLst>
          </a:prstGeom>
          <a:solidFill>
            <a:srgbClr val="E7EEFC"/>
          </a:solidFill>
          <a:ln w="12700">
            <a:solidFill>
              <a:srgbClr val="E7EEF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72584" y="1481328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726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4672584" y="2048256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789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스크립트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57416" y="1417320"/>
            <a:ext cx="1901952" cy="1005840"/>
          </a:xfrm>
          <a:prstGeom prst="roundRect">
            <a:avLst>
              <a:gd name="adj" fmla="val 9091"/>
            </a:avLst>
          </a:prstGeom>
          <a:solidFill>
            <a:srgbClr val="E7EEFC"/>
          </a:solidFill>
          <a:ln w="12700">
            <a:solidFill>
              <a:srgbClr val="E7EEF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57416" y="1481328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726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6757416" y="2048256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789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560320"/>
          <a:ext cx="81381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097280"/>
                <a:gridCol w="512064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내용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5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532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 분류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D745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✔ 완료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32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불안 0.941 · 긴 글 2청크 · 빈 입력 422 차단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532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Agent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D745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✔ 완료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32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analyze → recommend → retrieve 순서 확인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532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RAG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D745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✔ 완료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32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카드에 출처·라이선스 부착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532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생성형 AI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D745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✔ 완료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32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일기 원문 미전송 · 금지어 차단 · 폴백 공개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532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Long-term Memory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D745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✔ 완료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32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동의 저장 · 30일 만료 · 재시작 후 유지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532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설치형 앱(PWA)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D745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✔ 완료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32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홈 화면 설치 · 오프라인 화면 · API 무캐시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532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실사용자 테스트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443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 예정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32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5명 · 4문항 — 10장에서 보고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6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피드백과 개선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96112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89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실사용자 5명 · 4문항 5점 척도 — 테스트 후 이 장을 채웁니다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319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0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904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6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4문항 평균 (1~5점)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288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5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이해도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965960" y="1874520"/>
            <a:ext cx="1920240" cy="164592"/>
          </a:xfrm>
          <a:prstGeom prst="roundRect">
            <a:avLst>
              <a:gd name="adj" fmla="val 50000"/>
            </a:avLst>
          </a:prstGeom>
          <a:solidFill>
            <a:srgbClr val="EFF1F6"/>
          </a:solidFill>
          <a:ln w="12700">
            <a:solidFill>
              <a:srgbClr val="EFF1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931920" y="18288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89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 / 5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1305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5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공감도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965960" y="2176272"/>
            <a:ext cx="1920240" cy="164592"/>
          </a:xfrm>
          <a:prstGeom prst="roundRect">
            <a:avLst>
              <a:gd name="adj" fmla="val 50000"/>
            </a:avLst>
          </a:prstGeom>
          <a:solidFill>
            <a:srgbClr val="EFF1F6"/>
          </a:solidFill>
          <a:ln w="12700">
            <a:solidFill>
              <a:srgbClr val="EFF1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931920" y="21305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89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 / 5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24323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5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유용성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965960" y="2478024"/>
            <a:ext cx="1920240" cy="164592"/>
          </a:xfrm>
          <a:prstGeom prst="roundRect">
            <a:avLst>
              <a:gd name="adj" fmla="val 50000"/>
            </a:avLst>
          </a:prstGeom>
          <a:solidFill>
            <a:srgbClr val="EFF1F6"/>
          </a:solidFill>
          <a:ln w="12700">
            <a:solidFill>
              <a:srgbClr val="EFF1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931920" y="24323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89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 / 5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27340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5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접근성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965960" y="2779776"/>
            <a:ext cx="1920240" cy="164592"/>
          </a:xfrm>
          <a:prstGeom prst="roundRect">
            <a:avLst>
              <a:gd name="adj" fmla="val 50000"/>
            </a:avLst>
          </a:prstGeom>
          <a:solidFill>
            <a:srgbClr val="EFF1F6"/>
          </a:solidFill>
          <a:ln w="12700">
            <a:solidFill>
              <a:srgbClr val="EFF1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931920" y="273405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89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 / 5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1371600"/>
            <a:ext cx="3931920" cy="1783080"/>
          </a:xfrm>
          <a:prstGeom prst="roundRect">
            <a:avLst>
              <a:gd name="adj" fmla="val 5128"/>
            </a:avLst>
          </a:prstGeom>
          <a:solidFill>
            <a:srgbClr val="FDF3F1"/>
          </a:solidFill>
          <a:ln w="12700">
            <a:solidFill>
              <a:srgbClr val="F3DAD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937760" y="14904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6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전 / 개선 후 캡처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937760" y="181051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5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피드백 한 건을 고친 전후 화면을 나란히 붙입니다.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5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한 쌍이 발표 배점의 핵심입니다.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937760" y="2697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443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아직 실사용자 테스트를 진행하지 않았으므로 수치를 채우지 않았습니다.</a:t>
            </a:r>
            <a:endParaRPr lang="en-US" sz="9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337560"/>
          <a:ext cx="813816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3017520"/>
                <a:gridCol w="2377440"/>
                <a:gridCol w="1234440"/>
                <a:gridCol w="73152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응답자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받은 피드백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수정 커밋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재확인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5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532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U01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532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U02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532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U03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 txBox="1"/>
          <p:nvPr/>
        </p:nvSpPr>
        <p:spPr>
          <a:xfrm>
            <a:off x="502920" y="468172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789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서식은 docs/사용자테스트기록지.md · 정리는 docs/피드백기록.md 와 결과보고서 6절.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6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 한 것을 한 것처럼 말하지 않습니다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96112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89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한계와 다음 단계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43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한계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84632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74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3977640" cy="640080"/>
          </a:xfrm>
          <a:prstGeom prst="roundRect">
            <a:avLst>
              <a:gd name="adj" fmla="val 14286"/>
            </a:avLst>
          </a:prstGeom>
          <a:solidFill>
            <a:srgbClr val="FDF3F1"/>
          </a:solidFill>
          <a:ln w="12700">
            <a:solidFill>
              <a:srgbClr val="F3DAD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85623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5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응답이 감정 라벨·출처 카드만 참조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783080"/>
            <a:ext cx="3977640" cy="640080"/>
          </a:xfrm>
          <a:prstGeom prst="roundRect">
            <a:avLst>
              <a:gd name="adj" fmla="val 14286"/>
            </a:avLst>
          </a:prstGeom>
          <a:solidFill>
            <a:srgbClr val="E9F3E8"/>
          </a:solidFill>
          <a:ln w="12700">
            <a:solidFill>
              <a:srgbClr val="D6E7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85623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5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명시적으로 동의한 경우에만 원문 전달 옵션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532888"/>
            <a:ext cx="3977640" cy="640080"/>
          </a:xfrm>
          <a:prstGeom prst="roundRect">
            <a:avLst>
              <a:gd name="adj" fmla="val 14286"/>
            </a:avLst>
          </a:prstGeom>
          <a:solidFill>
            <a:srgbClr val="FDF3F1"/>
          </a:solidFill>
          <a:ln w="12700">
            <a:solidFill>
              <a:srgbClr val="F3DA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6060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5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Space는 영구 디스크가 없어 재시작 시 초기화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2532888"/>
            <a:ext cx="3977640" cy="640080"/>
          </a:xfrm>
          <a:prstGeom prst="roundRect">
            <a:avLst>
              <a:gd name="adj" fmla="val 14286"/>
            </a:avLst>
          </a:prstGeom>
          <a:solidFill>
            <a:srgbClr val="E9F3E8"/>
          </a:solidFill>
          <a:ln w="12700">
            <a:solidFill>
              <a:srgbClr val="D6E7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26060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5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즉시 집계 내려받기 · 유료 디스크 전환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282696"/>
            <a:ext cx="3977640" cy="640080"/>
          </a:xfrm>
          <a:prstGeom prst="roundRect">
            <a:avLst>
              <a:gd name="adj" fmla="val 14286"/>
            </a:avLst>
          </a:prstGeom>
          <a:solidFill>
            <a:srgbClr val="FDF3F1"/>
          </a:solidFill>
          <a:ln w="12700">
            <a:solidFill>
              <a:srgbClr val="F3DAD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35584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5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기반 추천(러닝·근처 장소) 미구현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3282696"/>
            <a:ext cx="3977640" cy="640080"/>
          </a:xfrm>
          <a:prstGeom prst="roundRect">
            <a:avLst>
              <a:gd name="adj" fmla="val 14286"/>
            </a:avLst>
          </a:prstGeom>
          <a:solidFill>
            <a:srgbClr val="E9F3E8"/>
          </a:solidFill>
          <a:ln w="12700">
            <a:solidFill>
              <a:srgbClr val="D6E7D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92040" y="335584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5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권한·지도 API 검증 후 2단계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4032504"/>
            <a:ext cx="3977640" cy="640080"/>
          </a:xfrm>
          <a:prstGeom prst="roundRect">
            <a:avLst>
              <a:gd name="adj" fmla="val 14286"/>
            </a:avLst>
          </a:prstGeom>
          <a:solidFill>
            <a:srgbClr val="FDF3F1"/>
          </a:solidFill>
          <a:ln w="12700">
            <a:solidFill>
              <a:srgbClr val="F3DAD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410565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5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 6종으로 제한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4032504"/>
            <a:ext cx="3977640" cy="640080"/>
          </a:xfrm>
          <a:prstGeom prst="roundRect">
            <a:avLst>
              <a:gd name="adj" fmla="val 14286"/>
            </a:avLst>
          </a:prstGeom>
          <a:solidFill>
            <a:srgbClr val="E9F3E8"/>
          </a:solidFill>
          <a:ln w="12700">
            <a:solidFill>
              <a:srgbClr val="D6E7D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92040" y="410565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532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무드 미터의 사용자 직접 선택으로 보완 중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26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772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감정을 기록에서 끝내지 않습니다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7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Mindily — 코디세이 AI 네이티브 Final Project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394960" cy="548640"/>
          </a:xfrm>
          <a:prstGeom prst="roundRect">
            <a:avLst>
              <a:gd name="adj" fmla="val 16667"/>
            </a:avLst>
          </a:prstGeom>
          <a:solidFill>
            <a:srgbClr val="22315F"/>
          </a:solidFill>
          <a:ln w="12700">
            <a:solidFill>
              <a:srgbClr val="2231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/ UX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1965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______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926080" y="19659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6CE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콘셉트 · 모바일 UI · 접근성 · 테스트 설계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40080" y="2624328"/>
            <a:ext cx="5394960" cy="548640"/>
          </a:xfrm>
          <a:prstGeom prst="roundRect">
            <a:avLst>
              <a:gd name="adj" fmla="val 16667"/>
            </a:avLst>
          </a:prstGeom>
          <a:solidFill>
            <a:srgbClr val="22315F"/>
          </a:solidFill>
          <a:ln w="12700">
            <a:solidFill>
              <a:srgbClr val="2231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262432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011680" y="26243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______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262432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6CE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연동 · FastAPI · Agent/RAG/생성형/기억 · 배포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0080" y="3282696"/>
            <a:ext cx="5394960" cy="548640"/>
          </a:xfrm>
          <a:prstGeom prst="roundRect">
            <a:avLst>
              <a:gd name="adj" fmla="val 16667"/>
            </a:avLst>
          </a:prstGeom>
          <a:solidFill>
            <a:srgbClr val="22315F"/>
          </a:solidFill>
          <a:ln w="12700">
            <a:solidFill>
              <a:srgbClr val="2231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328269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/ 문서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011680" y="328269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______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926080" y="3282696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6CE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기능명세 · 테스트 · 사용자 5명 피드백 정리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069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FC9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받겠습니다.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0" y="137160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Image 0" descr="/tmp/claude-0/-home-claude/df976b3b-33df-5ebe-9665-69bb94d4a9a7/scratchpad/qr-serv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4808" y="1435608"/>
            <a:ext cx="923544" cy="923544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6400800" y="245059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6355080" y="267004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7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yellowmug-mindily.hf.space</a:t>
            </a:r>
            <a:endParaRPr lang="en-US" sz="650" dirty="0"/>
          </a:p>
        </p:txBody>
      </p:sp>
      <p:sp>
        <p:nvSpPr>
          <p:cNvPr id="21" name="Shape 18"/>
          <p:cNvSpPr/>
          <p:nvPr/>
        </p:nvSpPr>
        <p:spPr>
          <a:xfrm>
            <a:off x="7635240" y="137160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2" name="Image 1" descr="/tmp/claude-0/-home-claude/df976b3b-33df-5ebe-9665-69bb94d4a9a7/scratchpad/qr-githu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248" y="1435608"/>
            <a:ext cx="923544" cy="92354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7635240" y="245059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 코드</a:t>
            </a:r>
            <a:endParaRPr lang="en-US" sz="950" dirty="0"/>
          </a:p>
        </p:txBody>
      </p:sp>
      <p:sp>
        <p:nvSpPr>
          <p:cNvPr id="24" name="Text 20"/>
          <p:cNvSpPr txBox="1"/>
          <p:nvPr/>
        </p:nvSpPr>
        <p:spPr>
          <a:xfrm>
            <a:off x="7589520" y="267004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7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github.com/80gina/MM</a:t>
            </a:r>
            <a:endParaRPr lang="en-US" sz="650" dirty="0"/>
          </a:p>
        </p:txBody>
      </p:sp>
      <p:sp>
        <p:nvSpPr>
          <p:cNvPr id="25" name="Text 21"/>
          <p:cNvSpPr txBox="1"/>
          <p:nvPr/>
        </p:nvSpPr>
        <p:spPr>
          <a:xfrm>
            <a:off x="6309360" y="32461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8A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영상 · 촬영 후 링크 기입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Mindily — 코디세이 AI 네이티브 Final Project</dc:title>
  <dc:subject>PptxGenJS Presentation</dc:subject>
  <dc:creator>Mindily Team</dc:creator>
  <cp:lastModifiedBy>Mindily Team</cp:lastModifiedBy>
  <cp:revision>1</cp:revision>
  <dcterms:created xsi:type="dcterms:W3CDTF">2026-09-20T01:43:22Z</dcterms:created>
  <dcterms:modified xsi:type="dcterms:W3CDTF">2026-09-20T01:43:22Z</dcterms:modified>
</cp:coreProperties>
</file>